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yne"/>
      <p:regular r:id="rId17"/>
    </p:embeddedFont>
    <p:embeddedFont>
      <p:font typeface="Syne"/>
      <p:regular r:id="rId18"/>
    </p:embeddedFont>
    <p:embeddedFont>
      <p:font typeface="Arimo"/>
      <p:regular r:id="rId19"/>
    </p:embeddedFont>
    <p:embeddedFont>
      <p:font typeface="Arimo"/>
      <p:regular r:id="rId20"/>
    </p:embeddedFont>
    <p:embeddedFont>
      <p:font typeface="Arimo"/>
      <p:regular r:id="rId21"/>
    </p:embeddedFont>
    <p:embeddedFont>
      <p:font typeface="Arim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03621"/>
            <a:ext cx="7468553" cy="184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Documentación Técnica: Agente Recetario Inteligente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4" y="4465439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Proyecto Final de Sistemas de Inteligencia Artificial- Krabbe Valentina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24124" y="5036106"/>
            <a:ext cx="7468553" cy="889873"/>
          </a:xfrm>
          <a:prstGeom prst="roundRect">
            <a:avLst>
              <a:gd name="adj" fmla="val 3531"/>
            </a:avLst>
          </a:prstGeom>
          <a:solidFill>
            <a:srgbClr val="0F004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555" y="5350669"/>
            <a:ext cx="261818" cy="209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04804" y="5297805"/>
            <a:ext cx="657844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Fecha: 10 de noviembre de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09405"/>
            <a:ext cx="740354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Visión General del Proyecto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944178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Agente Recetario Inteligente es un sistema integral de Inteligencia Artificial que consolida los tres pilares fundamentales de un sistema inteligente dentro de una aplicación web interactiva desarrollada con Streamlit.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849886"/>
            <a:ext cx="4178618" cy="1564600"/>
          </a:xfrm>
          <a:prstGeom prst="roundRect">
            <a:avLst>
              <a:gd name="adj" fmla="val 2008"/>
            </a:avLst>
          </a:prstGeom>
          <a:solidFill>
            <a:srgbClr val="2B2952"/>
          </a:solidFill>
          <a:ln/>
        </p:spPr>
      </p:sp>
      <p:sp>
        <p:nvSpPr>
          <p:cNvPr id="5" name="Shape 3"/>
          <p:cNvSpPr/>
          <p:nvPr/>
        </p:nvSpPr>
        <p:spPr>
          <a:xfrm>
            <a:off x="1047155" y="4059317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8061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914" y="4232077"/>
            <a:ext cx="282654" cy="2826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155" y="489704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Lógica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25772" y="3849886"/>
            <a:ext cx="4178737" cy="1564600"/>
          </a:xfrm>
          <a:prstGeom prst="roundRect">
            <a:avLst>
              <a:gd name="adj" fmla="val 2008"/>
            </a:avLst>
          </a:prstGeom>
          <a:solidFill>
            <a:srgbClr val="2B2952"/>
          </a:solidFill>
          <a:ln/>
        </p:spPr>
      </p:sp>
      <p:sp>
        <p:nvSpPr>
          <p:cNvPr id="9" name="Shape 6"/>
          <p:cNvSpPr/>
          <p:nvPr/>
        </p:nvSpPr>
        <p:spPr>
          <a:xfrm>
            <a:off x="5435203" y="4059317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8061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7963" y="4232077"/>
            <a:ext cx="282654" cy="2826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35203" y="4897041"/>
            <a:ext cx="281523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Búsqueda Avanzada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9613940" y="3849886"/>
            <a:ext cx="4178737" cy="1564600"/>
          </a:xfrm>
          <a:prstGeom prst="roundRect">
            <a:avLst>
              <a:gd name="adj" fmla="val 2008"/>
            </a:avLst>
          </a:prstGeom>
          <a:solidFill>
            <a:srgbClr val="2B2952"/>
          </a:solidFill>
          <a:ln/>
        </p:spPr>
      </p:sp>
      <p:sp>
        <p:nvSpPr>
          <p:cNvPr id="13" name="Shape 9"/>
          <p:cNvSpPr/>
          <p:nvPr/>
        </p:nvSpPr>
        <p:spPr>
          <a:xfrm>
            <a:off x="9823371" y="4059317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8061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6130" y="4232077"/>
            <a:ext cx="282654" cy="2826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23371" y="489704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37724" y="5650111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objetivo es guiar al usuario desde los ingredientes disponibles hasta obtener la receta más relevante, las instrucciones de preparación y recomendaciones personalizadas.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592" y="507087"/>
            <a:ext cx="9030891" cy="542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Arquitectura Modular y Flujo de Datos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7592" y="1418153"/>
            <a:ext cx="1315521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aplicación sigue una arquitectura modular, garantizando la mantenibilidad y escalabilidad. Cada componente tiene una responsabilidad única.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66" y="1920597"/>
            <a:ext cx="13046750" cy="5626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9675" y="6490640"/>
            <a:ext cx="2785565" cy="347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Salida / ML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669675" y="5188298"/>
            <a:ext cx="2785565" cy="347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Búsqueda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669675" y="3899111"/>
            <a:ext cx="2785565" cy="347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Lógica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69675" y="2596768"/>
            <a:ext cx="2785565" cy="347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Interfaz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7592" y="7754064"/>
            <a:ext cx="1315521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flujo de ejecución es secuencial, comenzando por la interfaz y terminando con la salida y las recomendaciones.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16506"/>
            <a:ext cx="12954952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Punto de Entrada: app.py (Interfaz y Orquestación)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398038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8328" y="2371844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Funciones Clave</a:t>
            </a:r>
            <a:endParaRPr lang="en-US" sz="2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6909" y="2983706"/>
            <a:ext cx="314087" cy="3140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59008" y="2977158"/>
            <a:ext cx="270605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(Streamlit)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59008" y="3494603"/>
            <a:ext cx="554128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Proporciona la interfaz web interactiva para que el usuario ingrese ingredientes y restricciones.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6909" y="4590098"/>
            <a:ext cx="314087" cy="3140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59008" y="4583549"/>
            <a:ext cx="316384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Orquestador (Backend)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259008" y="5100995"/>
            <a:ext cx="554128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Coordina y ejecuta la secuencia lógica del agente entre los diferentes módulos.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6909" y="6196489"/>
            <a:ext cx="314087" cy="3140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59008" y="6189940"/>
            <a:ext cx="267462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Integración Externa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8259008" y="6707386"/>
            <a:ext cx="554128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 el enlace codificado de Google Search para dirigir al usuario a las instrucciones de la receta.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63015"/>
            <a:ext cx="10060543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Fuente de Datos y Lógica de Negocio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402443"/>
            <a:ext cx="427493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data/recetas_dataset.csv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007757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5529382"/>
            <a:ext cx="4875371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Contiene la base de datos de las recetas, incluyendo nombre, ingredientes, categoría y etiquetas booleanas para la Lógica de Negocio.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31731" y="2402443"/>
            <a:ext cx="7169110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src/services/business_logic.py (Pilar Lógica)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231731" y="2981563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 la primera y más estricta capa de filtrado (Reglas de Negocio).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31731" y="3552230"/>
            <a:ext cx="7568565" cy="1317069"/>
          </a:xfrm>
          <a:prstGeom prst="roundRect">
            <a:avLst>
              <a:gd name="adj" fmla="val 8331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08871" y="3552230"/>
            <a:ext cx="91440" cy="1317069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0" name="Text 7"/>
          <p:cNvSpPr/>
          <p:nvPr/>
        </p:nvSpPr>
        <p:spPr>
          <a:xfrm>
            <a:off x="6532602" y="3784521"/>
            <a:ext cx="355770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Filtrado por Disponibilidad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32602" y="4301966"/>
            <a:ext cx="70354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Elimina recetas que usan ingredientes no disponibles en la lista del usuario.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31731" y="5078730"/>
            <a:ext cx="7568565" cy="1652111"/>
          </a:xfrm>
          <a:prstGeom prst="roundRect">
            <a:avLst>
              <a:gd name="adj" fmla="val 6642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08871" y="5078730"/>
            <a:ext cx="91440" cy="1652111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6532602" y="5311021"/>
            <a:ext cx="373558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Aplicación de Restricciones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532602" y="5828467"/>
            <a:ext cx="703540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 reglas booleanas seleccionadas por el usuario (ej., si "gluten" es falso, elimina recetas con gluten).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579" y="567571"/>
            <a:ext cx="12673489" cy="606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Pilar Búsqueda: Ranqueo Avanzado con TF-IDF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5579" y="1587341"/>
            <a:ext cx="12979241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módulo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src/services/search_engine.py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gestiona el ranqueo avanzado de las recetas para optimizar la elección.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79" y="2157413"/>
            <a:ext cx="619125" cy="619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579" y="3034427"/>
            <a:ext cx="2428161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Método TF-IDF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5579" y="3461623"/>
            <a:ext cx="6360676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Utiliza Term Frequency-Inverse Document Frequency para ponderar la importancia de cada ingrediente.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4145" y="2157413"/>
            <a:ext cx="619125" cy="619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4145" y="3034427"/>
            <a:ext cx="6360676" cy="91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Similitud de Coseno Mide la similitud entre los ingredientes disponibles del usuario y los de cada receta.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79" y="4534972"/>
            <a:ext cx="619125" cy="6191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5579" y="5411986"/>
            <a:ext cx="6360676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Función de Priorización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Prioriza las recetas que mejor "encajan" con la lista de ingredientes, ordenando por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relevance_score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475101" y="4522589"/>
            <a:ext cx="557213" cy="643890"/>
          </a:xfrm>
          <a:prstGeom prst="roundRect">
            <a:avLst>
              <a:gd name="adj" fmla="val 9846"/>
            </a:avLst>
          </a:prstGeom>
          <a:solidFill>
            <a:srgbClr val="4D4D51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926" y="4711660"/>
            <a:ext cx="309562" cy="24765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4145" y="5411986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16129"/>
            <a:ext cx="12954952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Pilar Machine Learning: Recomendación Basada en Contenido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3066812"/>
            <a:ext cx="12954952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módulo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src/models/recommender.py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representa la capa de Machine Learning, ejecutándose después de la selección inicial.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3854529"/>
            <a:ext cx="7568565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Modelo: Recomendación Basada en Contenido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37724" y="4803338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Este modelo sugiere recetas que son similares en perfil a la receta mejor ranqueada por el motor de búsqueda.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5661898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 basa en la similitud de categorías y restricciones dietéticas.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4" y="6070163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Añade una capa de personalización post-decisión para mejorar la experiencia del usuario.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925" y="3880723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03690"/>
            <a:ext cx="832485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Resumen del Valor del Sistema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938463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proyecto demuestra una integración robusta de múltiples tecnologías de IA para ofrecer una solución completa y práctica.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823216"/>
            <a:ext cx="4178618" cy="2502694"/>
          </a:xfrm>
          <a:prstGeom prst="roundRect">
            <a:avLst>
              <a:gd name="adj" fmla="val 4384"/>
            </a:avLst>
          </a:prstGeom>
          <a:solidFill>
            <a:srgbClr val="0C0A33"/>
          </a:solidFill>
          <a:ln/>
        </p:spPr>
      </p:sp>
      <p:sp>
        <p:nvSpPr>
          <p:cNvPr id="5" name="Shape 3"/>
          <p:cNvSpPr/>
          <p:nvPr/>
        </p:nvSpPr>
        <p:spPr>
          <a:xfrm>
            <a:off x="837724" y="3800356"/>
            <a:ext cx="4178618" cy="91440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6" name="Shape 4"/>
          <p:cNvSpPr/>
          <p:nvPr/>
        </p:nvSpPr>
        <p:spPr>
          <a:xfrm>
            <a:off x="2612886" y="3509129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8061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1362" y="3697486"/>
            <a:ext cx="251341" cy="2513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0015" y="434685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Selección Estricta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70015" y="4780478"/>
            <a:ext cx="371403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Garantizada por la Lógica de Negocio y los filtros de disponibilidad.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25772" y="3823216"/>
            <a:ext cx="4178737" cy="2502694"/>
          </a:xfrm>
          <a:prstGeom prst="roundRect">
            <a:avLst>
              <a:gd name="adj" fmla="val 4384"/>
            </a:avLst>
          </a:prstGeom>
          <a:solidFill>
            <a:srgbClr val="0C0A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25772" y="3800356"/>
            <a:ext cx="4178737" cy="91440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2" name="Shape 9"/>
          <p:cNvSpPr/>
          <p:nvPr/>
        </p:nvSpPr>
        <p:spPr>
          <a:xfrm>
            <a:off x="7000935" y="3509129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8061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9410" y="3697486"/>
            <a:ext cx="251341" cy="2513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8063" y="4346853"/>
            <a:ext cx="356020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Optimización de Recursos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458063" y="4780478"/>
            <a:ext cx="371415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Lograda mediante el ranqueo avanzado con TF-IDF, maximizando el uso de ingredientes disponibles.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613940" y="3823216"/>
            <a:ext cx="4178737" cy="2502694"/>
          </a:xfrm>
          <a:prstGeom prst="roundRect">
            <a:avLst>
              <a:gd name="adj" fmla="val 4384"/>
            </a:avLst>
          </a:prstGeom>
          <a:solidFill>
            <a:srgbClr val="0C0A33"/>
          </a:solidFill>
          <a:ln/>
        </p:spPr>
      </p:sp>
      <p:sp>
        <p:nvSpPr>
          <p:cNvPr id="17" name="Shape 13"/>
          <p:cNvSpPr/>
          <p:nvPr/>
        </p:nvSpPr>
        <p:spPr>
          <a:xfrm>
            <a:off x="9613940" y="3800356"/>
            <a:ext cx="4178737" cy="91440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89102" y="3509129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8061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77578" y="3697486"/>
            <a:ext cx="251341" cy="2513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46231" y="4346853"/>
            <a:ext cx="3714155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Personalización Post-Decisión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9846231" y="5088493"/>
            <a:ext cx="371415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Proporcionada por el modelo de Machine Learning basado en contenido.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45012"/>
            <a:ext cx="73311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Integración de Pilares de IA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079784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Agente Recetario Inteligente es un ejemplo de cómo la combinación de diferentes enfoques de IA crea un sistema más potente y útil.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49423" y="3321129"/>
            <a:ext cx="268462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Entrada del Usuario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7724" y="3754755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Ingredientes y restricciones.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31" y="2650450"/>
            <a:ext cx="4534138" cy="453413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5900" y="3462457"/>
            <a:ext cx="313373" cy="3133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96356" y="332112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Lógica (Filtros)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896356" y="3754755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Eliminación de opciones no viables.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31" y="2650450"/>
            <a:ext cx="4534138" cy="453413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6771" y="3848219"/>
            <a:ext cx="313373" cy="3133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96356" y="5745242"/>
            <a:ext cx="285583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Búsqueda (Ranqueo)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9896356" y="6178868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Identificación de la mejor coincidencia.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650450"/>
            <a:ext cx="4534138" cy="453413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1009" y="6059091"/>
            <a:ext cx="313373" cy="31337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00820" y="5745242"/>
            <a:ext cx="293322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ML (Recomendación)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837724" y="6178868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Sugerencias de recetas similares.</a:t>
            </a:r>
            <a:endParaRPr lang="en-US" sz="16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131" y="2650450"/>
            <a:ext cx="4534138" cy="4534138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60137" y="5673328"/>
            <a:ext cx="313373" cy="3133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18542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Conclusión y Próximos Pasos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4" y="2264450"/>
            <a:ext cx="7468553" cy="25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 Sistema Completo y Robusto</a:t>
            </a:r>
            <a:endParaRPr lang="en-US" sz="5350" dirty="0"/>
          </a:p>
        </p:txBody>
      </p:sp>
      <p:sp>
        <p:nvSpPr>
          <p:cNvPr id="5" name="Text 2"/>
          <p:cNvSpPr/>
          <p:nvPr/>
        </p:nvSpPr>
        <p:spPr>
          <a:xfrm>
            <a:off x="6324124" y="5128855"/>
            <a:ext cx="7468553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Este proyecto demuestra la capacidad de integrar múltiples tecnologías de IA para proporcionar una solución completa, desde la selección estricta hasta la personalización y la interacción real con la web.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38211" y="6605230"/>
            <a:ext cx="715446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Agente Recetario Inteligente transforma la complejidad de la elección de recetas en una experiencia fluida y optimizada.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24124" y="6369606"/>
            <a:ext cx="22860" cy="1141333"/>
          </a:xfrm>
          <a:prstGeom prst="rect">
            <a:avLst/>
          </a:prstGeom>
          <a:solidFill>
            <a:srgbClr val="8061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2025-11-10T22:13:18Z</dcterms:created>
  <dcterms:modified xsi:type="dcterms:W3CDTF">2025-11-10T22:13:18Z</dcterms:modified>
</cp:coreProperties>
</file>